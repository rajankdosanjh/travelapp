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3" r:id="rId1"/>
  </p:sldMasterIdLst>
  <p:notesMasterIdLst>
    <p:notesMasterId r:id="rId11"/>
  </p:notesMasterIdLst>
  <p:sldIdLst>
    <p:sldId id="256" r:id="rId2"/>
    <p:sldId id="257" r:id="rId3"/>
    <p:sldId id="262" r:id="rId4"/>
    <p:sldId id="258" r:id="rId5"/>
    <p:sldId id="259" r:id="rId6"/>
    <p:sldId id="260" r:id="rId7"/>
    <p:sldId id="265" r:id="rId8"/>
    <p:sldId id="264" r:id="rId9"/>
    <p:sldId id="261"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45200"/>
    <a:srgbClr val="D880D6"/>
    <a:srgbClr val="D81E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6803"/>
    <p:restoredTop sz="95801"/>
  </p:normalViewPr>
  <p:slideViewPr>
    <p:cSldViewPr snapToGrid="0">
      <p:cViewPr varScale="1">
        <p:scale>
          <a:sx n="111" d="100"/>
          <a:sy n="111" d="100"/>
        </p:scale>
        <p:origin x="1096" y="200"/>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27CB15-D6C9-7444-B3B3-FEB87A41A28B}" type="datetimeFigureOut">
              <a:rPr lang="en-GB" smtClean="0"/>
              <a:t>13/08/2025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65BD86-827C-6F49-99AA-CCD66C47156C}" type="slidenum">
              <a:rPr lang="en-GB" smtClean="0"/>
              <a:t>‹#›</a:t>
            </a:fld>
            <a:endParaRPr lang="en-GB"/>
          </a:p>
        </p:txBody>
      </p:sp>
    </p:spTree>
    <p:extLst>
      <p:ext uri="{BB962C8B-B14F-4D97-AF65-F5344CB8AC3E}">
        <p14:creationId xmlns:p14="http://schemas.microsoft.com/office/powerpoint/2010/main" val="38240313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Put numbers in slide</a:t>
            </a:r>
          </a:p>
        </p:txBody>
      </p:sp>
      <p:sp>
        <p:nvSpPr>
          <p:cNvPr id="4" name="Slide Number Placeholder 3"/>
          <p:cNvSpPr>
            <a:spLocks noGrp="1"/>
          </p:cNvSpPr>
          <p:nvPr>
            <p:ph type="sldNum" sz="quarter" idx="5"/>
          </p:nvPr>
        </p:nvSpPr>
        <p:spPr/>
        <p:txBody>
          <a:bodyPr/>
          <a:lstStyle/>
          <a:p>
            <a:fld id="{F165BD86-827C-6F49-99AA-CCD66C47156C}" type="slidenum">
              <a:rPr lang="en-GB" smtClean="0"/>
              <a:t>1</a:t>
            </a:fld>
            <a:endParaRPr lang="en-GB"/>
          </a:p>
        </p:txBody>
      </p:sp>
    </p:spTree>
    <p:extLst>
      <p:ext uri="{BB962C8B-B14F-4D97-AF65-F5344CB8AC3E}">
        <p14:creationId xmlns:p14="http://schemas.microsoft.com/office/powerpoint/2010/main" val="39052756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Add more references</a:t>
            </a:r>
          </a:p>
        </p:txBody>
      </p:sp>
      <p:sp>
        <p:nvSpPr>
          <p:cNvPr id="4" name="Slide Number Placeholder 3"/>
          <p:cNvSpPr>
            <a:spLocks noGrp="1"/>
          </p:cNvSpPr>
          <p:nvPr>
            <p:ph type="sldNum" sz="quarter" idx="5"/>
          </p:nvPr>
        </p:nvSpPr>
        <p:spPr/>
        <p:txBody>
          <a:bodyPr/>
          <a:lstStyle/>
          <a:p>
            <a:fld id="{F165BD86-827C-6F49-99AA-CCD66C47156C}" type="slidenum">
              <a:rPr lang="en-GB" smtClean="0"/>
              <a:t>2</a:t>
            </a:fld>
            <a:endParaRPr lang="en-GB"/>
          </a:p>
        </p:txBody>
      </p:sp>
    </p:spTree>
    <p:extLst>
      <p:ext uri="{BB962C8B-B14F-4D97-AF65-F5344CB8AC3E}">
        <p14:creationId xmlns:p14="http://schemas.microsoft.com/office/powerpoint/2010/main" val="33531842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165BD86-827C-6F49-99AA-CCD66C47156C}" type="slidenum">
              <a:rPr lang="en-GB" smtClean="0"/>
              <a:t>3</a:t>
            </a:fld>
            <a:endParaRPr lang="en-GB"/>
          </a:p>
        </p:txBody>
      </p:sp>
    </p:spTree>
    <p:extLst>
      <p:ext uri="{BB962C8B-B14F-4D97-AF65-F5344CB8AC3E}">
        <p14:creationId xmlns:p14="http://schemas.microsoft.com/office/powerpoint/2010/main" val="40944967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165BD86-827C-6F49-99AA-CCD66C47156C}" type="slidenum">
              <a:rPr lang="en-GB" smtClean="0"/>
              <a:t>4</a:t>
            </a:fld>
            <a:endParaRPr lang="en-GB"/>
          </a:p>
        </p:txBody>
      </p:sp>
    </p:spTree>
    <p:extLst>
      <p:ext uri="{BB962C8B-B14F-4D97-AF65-F5344CB8AC3E}">
        <p14:creationId xmlns:p14="http://schemas.microsoft.com/office/powerpoint/2010/main" val="31758960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Distance objective function -&gt; Euclidean Distance</a:t>
            </a:r>
          </a:p>
          <a:p>
            <a:r>
              <a:rPr lang="en-GB" dirty="0"/>
              <a:t>Satisfaction Objective function -&gt; combines category match score and sentiment score:</a:t>
            </a:r>
          </a:p>
          <a:p>
            <a:r>
              <a:rPr lang="en-GB" sz="1200" b="1" i="0" u="none" strike="noStrike" kern="1200" dirty="0">
                <a:solidFill>
                  <a:schemeClr val="tx1"/>
                </a:solidFill>
                <a:effectLst/>
                <a:latin typeface="+mn-lt"/>
                <a:ea typeface="+mn-ea"/>
                <a:cs typeface="+mn-cs"/>
              </a:rPr>
              <a:t>n</a:t>
            </a:r>
            <a:r>
              <a:rPr lang="en-GB" sz="1200" b="0" i="0" u="none" strike="noStrike" kern="1200" dirty="0">
                <a:solidFill>
                  <a:schemeClr val="tx1"/>
                </a:solidFill>
                <a:effectLst/>
                <a:latin typeface="+mn-lt"/>
                <a:ea typeface="+mn-ea"/>
                <a:cs typeface="+mn-cs"/>
              </a:rPr>
              <a:t> is the number of locations in the route.</a:t>
            </a:r>
          </a:p>
          <a:p>
            <a:r>
              <a:rPr lang="en-GB" sz="1200" b="1" i="0" u="none" strike="noStrike" kern="1200" dirty="0">
                <a:solidFill>
                  <a:schemeClr val="tx1"/>
                </a:solidFill>
                <a:effectLst/>
                <a:latin typeface="+mn-lt"/>
                <a:ea typeface="+mn-ea"/>
                <a:cs typeface="+mn-cs"/>
              </a:rPr>
              <a:t>M(lᵢ, P)</a:t>
            </a:r>
            <a:r>
              <a:rPr lang="en-GB" sz="1200" b="0" i="0" u="none" strike="noStrike" kern="1200" dirty="0">
                <a:solidFill>
                  <a:schemeClr val="tx1"/>
                </a:solidFill>
                <a:effectLst/>
                <a:latin typeface="+mn-lt"/>
                <a:ea typeface="+mn-ea"/>
                <a:cs typeface="+mn-cs"/>
              </a:rPr>
              <a:t> is the category match score (1 if the location's category is in the user's preferred set P, 0 otherwise).</a:t>
            </a:r>
          </a:p>
          <a:p>
            <a:r>
              <a:rPr lang="en-GB" sz="1200" b="1" i="0" u="none" strike="noStrike" kern="1200" dirty="0">
                <a:solidFill>
                  <a:schemeClr val="tx1"/>
                </a:solidFill>
                <a:effectLst/>
                <a:latin typeface="+mn-lt"/>
                <a:ea typeface="+mn-ea"/>
                <a:cs typeface="+mn-cs"/>
              </a:rPr>
              <a:t>sᵢ</a:t>
            </a:r>
            <a:r>
              <a:rPr lang="en-GB" sz="1200" b="0" i="0" u="none" strike="noStrike" kern="1200" dirty="0">
                <a:solidFill>
                  <a:schemeClr val="tx1"/>
                </a:solidFill>
                <a:effectLst/>
                <a:latin typeface="+mn-lt"/>
                <a:ea typeface="+mn-ea"/>
                <a:cs typeface="+mn-cs"/>
              </a:rPr>
              <a:t> is the sentiment score for location lᵢ.</a:t>
            </a:r>
          </a:p>
          <a:p>
            <a:r>
              <a:rPr lang="en-GB" sz="1200" b="0" i="0" u="none" strike="noStrike" kern="1200" dirty="0">
                <a:solidFill>
                  <a:schemeClr val="tx1"/>
                </a:solidFill>
                <a:effectLst/>
                <a:latin typeface="+mn-lt"/>
                <a:ea typeface="+mn-ea"/>
                <a:cs typeface="+mn-cs"/>
              </a:rPr>
              <a:t>The formula first adds the two scores together and then divides the result by </a:t>
            </a:r>
            <a:r>
              <a:rPr lang="en-GB" dirty="0"/>
              <a:t>2n</a:t>
            </a:r>
            <a:r>
              <a:rPr lang="en-GB" sz="1200" b="0" i="0" u="none" strike="noStrike" kern="1200" dirty="0">
                <a:solidFill>
                  <a:schemeClr val="tx1"/>
                </a:solidFill>
                <a:effectLst/>
                <a:latin typeface="+mn-lt"/>
                <a:ea typeface="+mn-ea"/>
                <a:cs typeface="+mn-cs"/>
              </a:rPr>
              <a:t> to get the final, combined average.</a:t>
            </a:r>
          </a:p>
          <a:p>
            <a:endParaRPr lang="en-GB" dirty="0"/>
          </a:p>
        </p:txBody>
      </p:sp>
      <p:sp>
        <p:nvSpPr>
          <p:cNvPr id="4" name="Slide Number Placeholder 3"/>
          <p:cNvSpPr>
            <a:spLocks noGrp="1"/>
          </p:cNvSpPr>
          <p:nvPr>
            <p:ph type="sldNum" sz="quarter" idx="5"/>
          </p:nvPr>
        </p:nvSpPr>
        <p:spPr/>
        <p:txBody>
          <a:bodyPr/>
          <a:lstStyle/>
          <a:p>
            <a:fld id="{F165BD86-827C-6F49-99AA-CCD66C47156C}" type="slidenum">
              <a:rPr lang="en-GB" smtClean="0"/>
              <a:t>5</a:t>
            </a:fld>
            <a:endParaRPr lang="en-GB"/>
          </a:p>
        </p:txBody>
      </p:sp>
    </p:spTree>
    <p:extLst>
      <p:ext uri="{BB962C8B-B14F-4D97-AF65-F5344CB8AC3E}">
        <p14:creationId xmlns:p14="http://schemas.microsoft.com/office/powerpoint/2010/main" val="33968249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165BD86-827C-6F49-99AA-CCD66C47156C}" type="slidenum">
              <a:rPr lang="en-GB" smtClean="0"/>
              <a:t>6</a:t>
            </a:fld>
            <a:endParaRPr lang="en-GB"/>
          </a:p>
        </p:txBody>
      </p:sp>
    </p:spTree>
    <p:extLst>
      <p:ext uri="{BB962C8B-B14F-4D97-AF65-F5344CB8AC3E}">
        <p14:creationId xmlns:p14="http://schemas.microsoft.com/office/powerpoint/2010/main" val="13022716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F352B-3D63-94BA-7150-C286AD287B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619A09-1A4E-30C4-DB55-D918AEBB0C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578AB0-A4BB-3DCF-2414-53F948EF699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FAF9E91-E7AA-BE4A-112F-5B02B958233A}"/>
              </a:ext>
            </a:extLst>
          </p:cNvPr>
          <p:cNvSpPr>
            <a:spLocks noGrp="1"/>
          </p:cNvSpPr>
          <p:nvPr>
            <p:ph type="sldNum" sz="quarter" idx="5"/>
          </p:nvPr>
        </p:nvSpPr>
        <p:spPr/>
        <p:txBody>
          <a:bodyPr/>
          <a:lstStyle/>
          <a:p>
            <a:fld id="{F165BD86-827C-6F49-99AA-CCD66C47156C}" type="slidenum">
              <a:rPr lang="en-GB" smtClean="0"/>
              <a:t>7</a:t>
            </a:fld>
            <a:endParaRPr lang="en-GB"/>
          </a:p>
        </p:txBody>
      </p:sp>
    </p:spTree>
    <p:extLst>
      <p:ext uri="{BB962C8B-B14F-4D97-AF65-F5344CB8AC3E}">
        <p14:creationId xmlns:p14="http://schemas.microsoft.com/office/powerpoint/2010/main" val="17008035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A6516-EEF5-0851-D5B3-39EDF38286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31A601-CBEA-3ACF-059F-C769FAF86E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FE3D03-5F27-8F12-921D-73193ED21B9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CA06BFA-7FAE-E4AE-24D1-11F5CA57CA3C}"/>
              </a:ext>
            </a:extLst>
          </p:cNvPr>
          <p:cNvSpPr>
            <a:spLocks noGrp="1"/>
          </p:cNvSpPr>
          <p:nvPr>
            <p:ph type="sldNum" sz="quarter" idx="5"/>
          </p:nvPr>
        </p:nvSpPr>
        <p:spPr/>
        <p:txBody>
          <a:bodyPr/>
          <a:lstStyle/>
          <a:p>
            <a:fld id="{F165BD86-827C-6F49-99AA-CCD66C47156C}" type="slidenum">
              <a:rPr lang="en-GB" smtClean="0"/>
              <a:t>8</a:t>
            </a:fld>
            <a:endParaRPr lang="en-GB"/>
          </a:p>
        </p:txBody>
      </p:sp>
    </p:spTree>
    <p:extLst>
      <p:ext uri="{BB962C8B-B14F-4D97-AF65-F5344CB8AC3E}">
        <p14:creationId xmlns:p14="http://schemas.microsoft.com/office/powerpoint/2010/main" val="25521922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GB"/>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C9859D58-321D-E34D-A624-602D6222286D}" type="datetime1">
              <a:rPr lang="en-GB" smtClean="0"/>
              <a:t>13/08/2025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452E615-19A8-D149-963D-D14BE828048B}" type="slidenum">
              <a:rPr lang="en-GB" smtClean="0"/>
              <a:t>‹#›</a:t>
            </a:fld>
            <a:endParaRPr lang="en-GB"/>
          </a:p>
        </p:txBody>
      </p:sp>
    </p:spTree>
    <p:extLst>
      <p:ext uri="{BB962C8B-B14F-4D97-AF65-F5344CB8AC3E}">
        <p14:creationId xmlns:p14="http://schemas.microsoft.com/office/powerpoint/2010/main" val="696451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DAEB0DA-FD48-884D-9E60-BDBC28D9E964}" type="datetime1">
              <a:rPr lang="en-GB" smtClean="0"/>
              <a:t>13/08/2025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452E615-19A8-D149-963D-D14BE828048B}" type="slidenum">
              <a:rPr lang="en-GB" smtClean="0"/>
              <a:t>‹#›</a:t>
            </a:fld>
            <a:endParaRPr lang="en-GB"/>
          </a:p>
        </p:txBody>
      </p:sp>
    </p:spTree>
    <p:extLst>
      <p:ext uri="{BB962C8B-B14F-4D97-AF65-F5344CB8AC3E}">
        <p14:creationId xmlns:p14="http://schemas.microsoft.com/office/powerpoint/2010/main" val="13578549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GB"/>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ECA20A99-3B8E-DF46-9E51-CFA55FA09FF3}" type="datetime1">
              <a:rPr lang="en-GB" smtClean="0"/>
              <a:t>13/08/2025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452E615-19A8-D149-963D-D14BE828048B}" type="slidenum">
              <a:rPr lang="en-GB" smtClean="0"/>
              <a:t>‹#›</a:t>
            </a:fld>
            <a:endParaRPr lang="en-GB"/>
          </a:p>
        </p:txBody>
      </p:sp>
    </p:spTree>
    <p:extLst>
      <p:ext uri="{BB962C8B-B14F-4D97-AF65-F5344CB8AC3E}">
        <p14:creationId xmlns:p14="http://schemas.microsoft.com/office/powerpoint/2010/main" val="986131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Date Placeholder 7"/>
          <p:cNvSpPr>
            <a:spLocks noGrp="1"/>
          </p:cNvSpPr>
          <p:nvPr>
            <p:ph type="dt" sz="half" idx="10"/>
          </p:nvPr>
        </p:nvSpPr>
        <p:spPr/>
        <p:txBody>
          <a:bodyPr/>
          <a:lstStyle/>
          <a:p>
            <a:fld id="{A76FCFAE-44B5-C94B-9719-F69CAD5ECADA}" type="datetime1">
              <a:rPr lang="en-GB" smtClean="0"/>
              <a:t>13/08/2025</a:t>
            </a:fld>
            <a:endParaRPr lang="en-GB"/>
          </a:p>
        </p:txBody>
      </p:sp>
      <p:sp>
        <p:nvSpPr>
          <p:cNvPr id="9" name="Footer Placeholder 8"/>
          <p:cNvSpPr>
            <a:spLocks noGrp="1"/>
          </p:cNvSpPr>
          <p:nvPr>
            <p:ph type="ftr" sz="quarter" idx="11"/>
          </p:nvPr>
        </p:nvSpPr>
        <p:spPr/>
        <p:txBody>
          <a:bodyPr/>
          <a:lstStyle/>
          <a:p>
            <a:endParaRPr lang="en-GB"/>
          </a:p>
        </p:txBody>
      </p:sp>
      <p:sp>
        <p:nvSpPr>
          <p:cNvPr id="10" name="Slide Number Placeholder 9"/>
          <p:cNvSpPr>
            <a:spLocks noGrp="1"/>
          </p:cNvSpPr>
          <p:nvPr>
            <p:ph type="sldNum" sz="quarter" idx="12"/>
          </p:nvPr>
        </p:nvSpPr>
        <p:spPr/>
        <p:txBody>
          <a:bodyPr/>
          <a:lstStyle/>
          <a:p>
            <a:fld id="{A452E615-19A8-D149-963D-D14BE828048B}" type="slidenum">
              <a:rPr lang="en-GB" smtClean="0"/>
              <a:t>‹#›</a:t>
            </a:fld>
            <a:endParaRPr lang="en-GB"/>
          </a:p>
        </p:txBody>
      </p:sp>
    </p:spTree>
    <p:extLst>
      <p:ext uri="{BB962C8B-B14F-4D97-AF65-F5344CB8AC3E}">
        <p14:creationId xmlns:p14="http://schemas.microsoft.com/office/powerpoint/2010/main" val="4212121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GB"/>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 name="Date Placeholder 1"/>
          <p:cNvSpPr>
            <a:spLocks noGrp="1"/>
          </p:cNvSpPr>
          <p:nvPr>
            <p:ph type="dt" sz="half" idx="10"/>
          </p:nvPr>
        </p:nvSpPr>
        <p:spPr/>
        <p:txBody>
          <a:bodyPr/>
          <a:lstStyle/>
          <a:p>
            <a:fld id="{7792736B-330F-D548-AD02-A174204E80B2}" type="datetime1">
              <a:rPr lang="en-GB" smtClean="0"/>
              <a:t>13/08/2025</a:t>
            </a:fld>
            <a:endParaRPr lang="en-GB"/>
          </a:p>
        </p:txBody>
      </p:sp>
      <p:sp>
        <p:nvSpPr>
          <p:cNvPr id="11" name="Footer Placeholder 10"/>
          <p:cNvSpPr>
            <a:spLocks noGrp="1"/>
          </p:cNvSpPr>
          <p:nvPr>
            <p:ph type="ftr" sz="quarter" idx="11"/>
          </p:nvPr>
        </p:nvSpPr>
        <p:spPr/>
        <p:txBody>
          <a:bodyPr/>
          <a:lstStyle/>
          <a:p>
            <a:endParaRPr lang="en-GB"/>
          </a:p>
        </p:txBody>
      </p:sp>
      <p:sp>
        <p:nvSpPr>
          <p:cNvPr id="12" name="Slide Number Placeholder 11"/>
          <p:cNvSpPr>
            <a:spLocks noGrp="1"/>
          </p:cNvSpPr>
          <p:nvPr>
            <p:ph type="sldNum" sz="quarter" idx="12"/>
          </p:nvPr>
        </p:nvSpPr>
        <p:spPr/>
        <p:txBody>
          <a:bodyPr/>
          <a:lstStyle/>
          <a:p>
            <a:fld id="{A452E615-19A8-D149-963D-D14BE828048B}" type="slidenum">
              <a:rPr lang="en-GB" smtClean="0"/>
              <a:t>‹#›</a:t>
            </a:fld>
            <a:endParaRPr lang="en-GB"/>
          </a:p>
        </p:txBody>
      </p:sp>
    </p:spTree>
    <p:extLst>
      <p:ext uri="{BB962C8B-B14F-4D97-AF65-F5344CB8AC3E}">
        <p14:creationId xmlns:p14="http://schemas.microsoft.com/office/powerpoint/2010/main" val="7487001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GB"/>
              <a:t>Click to edit Master title style</a:t>
            </a:r>
            <a:endParaRPr lang="en-US" dirty="0"/>
          </a:p>
        </p:txBody>
      </p:sp>
      <p:sp>
        <p:nvSpPr>
          <p:cNvPr id="2" name="Date Placeholder 1"/>
          <p:cNvSpPr>
            <a:spLocks noGrp="1"/>
          </p:cNvSpPr>
          <p:nvPr>
            <p:ph type="dt" sz="half" idx="10"/>
          </p:nvPr>
        </p:nvSpPr>
        <p:spPr/>
        <p:txBody>
          <a:bodyPr/>
          <a:lstStyle/>
          <a:p>
            <a:fld id="{70E7F8F2-4073-C340-81B2-4483132C834A}" type="datetime1">
              <a:rPr lang="en-GB" smtClean="0"/>
              <a:t>13/08/2025</a:t>
            </a:fld>
            <a:endParaRPr lang="en-GB"/>
          </a:p>
        </p:txBody>
      </p:sp>
      <p:sp>
        <p:nvSpPr>
          <p:cNvPr id="7" name="Footer Placeholder 6"/>
          <p:cNvSpPr>
            <a:spLocks noGrp="1"/>
          </p:cNvSpPr>
          <p:nvPr>
            <p:ph type="ftr" sz="quarter" idx="11"/>
          </p:nvPr>
        </p:nvSpPr>
        <p:spPr/>
        <p:txBody>
          <a:bodyPr/>
          <a:lstStyle/>
          <a:p>
            <a:endParaRPr lang="en-GB"/>
          </a:p>
        </p:txBody>
      </p:sp>
      <p:sp>
        <p:nvSpPr>
          <p:cNvPr id="8" name="Slide Number Placeholder 7"/>
          <p:cNvSpPr>
            <a:spLocks noGrp="1"/>
          </p:cNvSpPr>
          <p:nvPr>
            <p:ph type="sldNum" sz="quarter" idx="12"/>
          </p:nvPr>
        </p:nvSpPr>
        <p:spPr/>
        <p:txBody>
          <a:bodyPr/>
          <a:lstStyle/>
          <a:p>
            <a:fld id="{A452E615-19A8-D149-963D-D14BE828048B}" type="slidenum">
              <a:rPr lang="en-GB" smtClean="0"/>
              <a:t>‹#›</a:t>
            </a:fld>
            <a:endParaRPr lang="en-GB"/>
          </a:p>
        </p:txBody>
      </p:sp>
    </p:spTree>
    <p:extLst>
      <p:ext uri="{BB962C8B-B14F-4D97-AF65-F5344CB8AC3E}">
        <p14:creationId xmlns:p14="http://schemas.microsoft.com/office/powerpoint/2010/main" val="24367454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1AEF527A-84F9-D44C-9CEF-1CA84BD22D1D}" type="datetime1">
              <a:rPr lang="en-GB" smtClean="0"/>
              <a:t>13/08/2025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452E615-19A8-D149-963D-D14BE828048B}" type="slidenum">
              <a:rPr lang="en-GB" smtClean="0"/>
              <a:t>‹#›</a:t>
            </a:fld>
            <a:endParaRPr lang="en-GB"/>
          </a:p>
        </p:txBody>
      </p:sp>
    </p:spTree>
    <p:extLst>
      <p:ext uri="{BB962C8B-B14F-4D97-AF65-F5344CB8AC3E}">
        <p14:creationId xmlns:p14="http://schemas.microsoft.com/office/powerpoint/2010/main" val="13149227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GB"/>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8" name="Date Placeholder 7"/>
          <p:cNvSpPr>
            <a:spLocks noGrp="1"/>
          </p:cNvSpPr>
          <p:nvPr>
            <p:ph type="dt" sz="half" idx="10"/>
          </p:nvPr>
        </p:nvSpPr>
        <p:spPr/>
        <p:txBody>
          <a:bodyPr/>
          <a:lstStyle/>
          <a:p>
            <a:fld id="{8B2360E6-76DC-AD4F-9CED-01658295BB98}" type="datetime1">
              <a:rPr lang="en-GB" smtClean="0"/>
              <a:t>13/08/2025</a:t>
            </a:fld>
            <a:endParaRPr lang="en-GB"/>
          </a:p>
        </p:txBody>
      </p:sp>
      <p:sp>
        <p:nvSpPr>
          <p:cNvPr id="9" name="Footer Placeholder 8"/>
          <p:cNvSpPr>
            <a:spLocks noGrp="1"/>
          </p:cNvSpPr>
          <p:nvPr>
            <p:ph type="ftr" sz="quarter" idx="11"/>
          </p:nvPr>
        </p:nvSpPr>
        <p:spPr/>
        <p:txBody>
          <a:bodyPr/>
          <a:lstStyle/>
          <a:p>
            <a:endParaRPr lang="en-GB"/>
          </a:p>
        </p:txBody>
      </p:sp>
      <p:sp>
        <p:nvSpPr>
          <p:cNvPr id="10" name="Slide Number Placeholder 9"/>
          <p:cNvSpPr>
            <a:spLocks noGrp="1"/>
          </p:cNvSpPr>
          <p:nvPr>
            <p:ph type="sldNum" sz="quarter" idx="12"/>
          </p:nvPr>
        </p:nvSpPr>
        <p:spPr/>
        <p:txBody>
          <a:bodyPr/>
          <a:lstStyle/>
          <a:p>
            <a:fld id="{A452E615-19A8-D149-963D-D14BE828048B}" type="slidenum">
              <a:rPr lang="en-GB" smtClean="0"/>
              <a:t>‹#›</a:t>
            </a:fld>
            <a:endParaRPr lang="en-GB"/>
          </a:p>
        </p:txBody>
      </p:sp>
    </p:spTree>
    <p:extLst>
      <p:ext uri="{BB962C8B-B14F-4D97-AF65-F5344CB8AC3E}">
        <p14:creationId xmlns:p14="http://schemas.microsoft.com/office/powerpoint/2010/main" val="12701406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8" name="Date Placeholder 7"/>
          <p:cNvSpPr>
            <a:spLocks noGrp="1"/>
          </p:cNvSpPr>
          <p:nvPr>
            <p:ph type="dt" sz="half" idx="10"/>
          </p:nvPr>
        </p:nvSpPr>
        <p:spPr/>
        <p:txBody>
          <a:bodyPr/>
          <a:lstStyle/>
          <a:p>
            <a:fld id="{82C97B98-7CBE-F544-9A35-1B13EE0607D0}" type="datetime1">
              <a:rPr lang="en-GB" smtClean="0"/>
              <a:t>13/08/2025</a:t>
            </a:fld>
            <a:endParaRPr lang="en-GB"/>
          </a:p>
        </p:txBody>
      </p:sp>
      <p:sp>
        <p:nvSpPr>
          <p:cNvPr id="9" name="Footer Placeholder 8"/>
          <p:cNvSpPr>
            <a:spLocks noGrp="1"/>
          </p:cNvSpPr>
          <p:nvPr>
            <p:ph type="ftr" sz="quarter" idx="11"/>
          </p:nvPr>
        </p:nvSpPr>
        <p:spPr>
          <a:xfrm>
            <a:off x="3499101" y="6356350"/>
            <a:ext cx="5911517" cy="365125"/>
          </a:xfrm>
        </p:spPr>
        <p:txBody>
          <a:bodyPr/>
          <a:lstStyle/>
          <a:p>
            <a:endParaRPr lang="en-GB"/>
          </a:p>
        </p:txBody>
      </p:sp>
      <p:sp>
        <p:nvSpPr>
          <p:cNvPr id="10" name="Slide Number Placeholder 9"/>
          <p:cNvSpPr>
            <a:spLocks noGrp="1"/>
          </p:cNvSpPr>
          <p:nvPr>
            <p:ph type="sldNum" sz="quarter" idx="12"/>
          </p:nvPr>
        </p:nvSpPr>
        <p:spPr/>
        <p:txBody>
          <a:bodyPr/>
          <a:lstStyle/>
          <a:p>
            <a:fld id="{A452E615-19A8-D149-963D-D14BE828048B}" type="slidenum">
              <a:rPr lang="en-GB" smtClean="0"/>
              <a:t>‹#›</a:t>
            </a:fld>
            <a:endParaRPr lang="en-GB"/>
          </a:p>
        </p:txBody>
      </p:sp>
    </p:spTree>
    <p:extLst>
      <p:ext uri="{BB962C8B-B14F-4D97-AF65-F5344CB8AC3E}">
        <p14:creationId xmlns:p14="http://schemas.microsoft.com/office/powerpoint/2010/main" val="29134949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714E3212-07CA-5645-BB33-74FA8214AB09}" type="datetime1">
              <a:rPr lang="en-GB" smtClean="0"/>
              <a:t>13/08/2025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A452E615-19A8-D149-963D-D14BE828048B}" type="slidenum">
              <a:rPr lang="en-GB" smtClean="0"/>
              <a:t>‹#›</a:t>
            </a:fld>
            <a:endParaRPr lang="en-GB"/>
          </a:p>
        </p:txBody>
      </p:sp>
    </p:spTree>
    <p:extLst>
      <p:ext uri="{BB962C8B-B14F-4D97-AF65-F5344CB8AC3E}">
        <p14:creationId xmlns:p14="http://schemas.microsoft.com/office/powerpoint/2010/main" val="21329246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0D62CBD8-7043-FA4C-92C0-97F3A904E5E8}" type="datetime1">
              <a:rPr lang="en-GB" smtClean="0"/>
              <a:t>13/08/2025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A452E615-19A8-D149-963D-D14BE828048B}" type="slidenum">
              <a:rPr lang="en-GB" smtClean="0"/>
              <a:t>‹#›</a:t>
            </a:fld>
            <a:endParaRPr lang="en-GB"/>
          </a:p>
        </p:txBody>
      </p:sp>
    </p:spTree>
    <p:extLst>
      <p:ext uri="{BB962C8B-B14F-4D97-AF65-F5344CB8AC3E}">
        <p14:creationId xmlns:p14="http://schemas.microsoft.com/office/powerpoint/2010/main" val="11818029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0CA73824-C453-F747-A879-19A0E77A699F}" type="datetime1">
              <a:rPr lang="en-GB" smtClean="0"/>
              <a:t>13/08/2025</a:t>
            </a:fld>
            <a:endParaRPr lang="en-GB"/>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GB"/>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A452E615-19A8-D149-963D-D14BE828048B}" type="slidenum">
              <a:rPr lang="en-GB" smtClean="0"/>
              <a:t>‹#›</a:t>
            </a:fld>
            <a:endParaRPr lang="en-GB"/>
          </a:p>
        </p:txBody>
      </p:sp>
    </p:spTree>
    <p:extLst>
      <p:ext uri="{BB962C8B-B14F-4D97-AF65-F5344CB8AC3E}">
        <p14:creationId xmlns:p14="http://schemas.microsoft.com/office/powerpoint/2010/main" val="3502623206"/>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Lst>
  <p:hf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74267-BCDD-B5FF-3E89-3CD27B5D2B74}"/>
              </a:ext>
            </a:extLst>
          </p:cNvPr>
          <p:cNvSpPr>
            <a:spLocks noGrp="1"/>
          </p:cNvSpPr>
          <p:nvPr>
            <p:ph type="ctrTitle"/>
          </p:nvPr>
        </p:nvSpPr>
        <p:spPr/>
        <p:txBody>
          <a:bodyPr>
            <a:normAutofit fontScale="90000"/>
          </a:bodyPr>
          <a:lstStyle/>
          <a:p>
            <a:r>
              <a:rPr lang="en-GB" dirty="0" err="1"/>
              <a:t>TweetPath</a:t>
            </a:r>
            <a:r>
              <a:rPr lang="en-GB" dirty="0"/>
              <a:t> - A Multi-Objective Evolutionary Approach to Touristic Route Planning</a:t>
            </a:r>
          </a:p>
        </p:txBody>
      </p:sp>
      <p:sp>
        <p:nvSpPr>
          <p:cNvPr id="3" name="Subtitle 2">
            <a:extLst>
              <a:ext uri="{FF2B5EF4-FFF2-40B4-BE49-F238E27FC236}">
                <a16:creationId xmlns:a16="http://schemas.microsoft.com/office/drawing/2014/main" id="{B1BEB46E-A8C5-A0D3-557E-5BD064AF77AA}"/>
              </a:ext>
            </a:extLst>
          </p:cNvPr>
          <p:cNvSpPr>
            <a:spLocks noGrp="1"/>
          </p:cNvSpPr>
          <p:nvPr>
            <p:ph type="subTitle" idx="1"/>
          </p:nvPr>
        </p:nvSpPr>
        <p:spPr/>
        <p:txBody>
          <a:bodyPr>
            <a:normAutofit fontScale="70000" lnSpcReduction="20000"/>
          </a:bodyPr>
          <a:lstStyle/>
          <a:p>
            <a:r>
              <a:rPr lang="en-GB" dirty="0"/>
              <a:t>Rajan Dosanjh</a:t>
            </a:r>
          </a:p>
          <a:p>
            <a:r>
              <a:rPr lang="en-GB" dirty="0"/>
              <a:t>MSc Computer Science</a:t>
            </a:r>
          </a:p>
          <a:p>
            <a:r>
              <a:rPr lang="en-GB" dirty="0"/>
              <a:t>14</a:t>
            </a:r>
            <a:r>
              <a:rPr lang="en-GB" baseline="30000" dirty="0"/>
              <a:t>th</a:t>
            </a:r>
            <a:r>
              <a:rPr lang="en-GB" dirty="0"/>
              <a:t> August 2025</a:t>
            </a:r>
          </a:p>
        </p:txBody>
      </p:sp>
      <p:sp>
        <p:nvSpPr>
          <p:cNvPr id="4" name="Slide Number Placeholder 3">
            <a:extLst>
              <a:ext uri="{FF2B5EF4-FFF2-40B4-BE49-F238E27FC236}">
                <a16:creationId xmlns:a16="http://schemas.microsoft.com/office/drawing/2014/main" id="{8979BB70-D00D-1E01-A59E-9C2CB037FF5D}"/>
              </a:ext>
            </a:extLst>
          </p:cNvPr>
          <p:cNvSpPr>
            <a:spLocks noGrp="1"/>
          </p:cNvSpPr>
          <p:nvPr>
            <p:ph type="sldNum" sz="quarter" idx="12"/>
          </p:nvPr>
        </p:nvSpPr>
        <p:spPr/>
        <p:txBody>
          <a:bodyPr/>
          <a:lstStyle/>
          <a:p>
            <a:fld id="{A452E615-19A8-D149-963D-D14BE828048B}" type="slidenum">
              <a:rPr lang="en-GB" sz="1600" smtClean="0"/>
              <a:t>1</a:t>
            </a:fld>
            <a:endParaRPr lang="en-GB" sz="1600" dirty="0"/>
          </a:p>
        </p:txBody>
      </p:sp>
    </p:spTree>
    <p:extLst>
      <p:ext uri="{BB962C8B-B14F-4D97-AF65-F5344CB8AC3E}">
        <p14:creationId xmlns:p14="http://schemas.microsoft.com/office/powerpoint/2010/main" val="40943370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B9C40-B859-D3DF-026C-711FCC51F613}"/>
              </a:ext>
            </a:extLst>
          </p:cNvPr>
          <p:cNvSpPr>
            <a:spLocks noGrp="1"/>
          </p:cNvSpPr>
          <p:nvPr>
            <p:ph type="title"/>
          </p:nvPr>
        </p:nvSpPr>
        <p:spPr/>
        <p:txBody>
          <a:bodyPr/>
          <a:lstStyle/>
          <a:p>
            <a:pPr algn="ctr"/>
            <a:r>
              <a:rPr lang="en-GB" dirty="0"/>
              <a:t>Background</a:t>
            </a:r>
          </a:p>
        </p:txBody>
      </p:sp>
      <p:sp>
        <p:nvSpPr>
          <p:cNvPr id="3" name="Content Placeholder 2">
            <a:extLst>
              <a:ext uri="{FF2B5EF4-FFF2-40B4-BE49-F238E27FC236}">
                <a16:creationId xmlns:a16="http://schemas.microsoft.com/office/drawing/2014/main" id="{D8568E65-DF32-43C4-E915-28135B0F6B1E}"/>
              </a:ext>
            </a:extLst>
          </p:cNvPr>
          <p:cNvSpPr>
            <a:spLocks noGrp="1"/>
          </p:cNvSpPr>
          <p:nvPr>
            <p:ph idx="1"/>
          </p:nvPr>
        </p:nvSpPr>
        <p:spPr>
          <a:xfrm>
            <a:off x="3780183" y="1017241"/>
            <a:ext cx="7354330" cy="4879975"/>
          </a:xfrm>
        </p:spPr>
        <p:txBody>
          <a:bodyPr>
            <a:normAutofit/>
          </a:bodyPr>
          <a:lstStyle/>
          <a:p>
            <a:r>
              <a:rPr lang="en-GB" dirty="0"/>
              <a:t>Tourists in large cities face immense choice in planning efficient and interesting travel routes. Most route planners tend to focus on minimising time, with few integrating POI and transport booking services (</a:t>
            </a:r>
            <a:r>
              <a:rPr lang="en-GB" dirty="0" err="1"/>
              <a:t>Pugacs</a:t>
            </a:r>
            <a:r>
              <a:rPr lang="en-GB" dirty="0"/>
              <a:t> et al 2017).</a:t>
            </a:r>
          </a:p>
          <a:p>
            <a:r>
              <a:rPr lang="en-GB" dirty="0"/>
              <a:t>As social media becomes a popular source of travel inspiration, travel applications and route planners need to integrate user-generated content (Hays et al 2013).</a:t>
            </a:r>
            <a:r>
              <a:rPr lang="en-GB" dirty="0">
                <a:effectLst/>
              </a:rPr>
              <a:t> </a:t>
            </a:r>
            <a:endParaRPr lang="en-GB" dirty="0"/>
          </a:p>
        </p:txBody>
      </p:sp>
      <p:sp>
        <p:nvSpPr>
          <p:cNvPr id="4" name="Slide Number Placeholder 3">
            <a:extLst>
              <a:ext uri="{FF2B5EF4-FFF2-40B4-BE49-F238E27FC236}">
                <a16:creationId xmlns:a16="http://schemas.microsoft.com/office/drawing/2014/main" id="{DEE99E5E-2074-6369-64FF-4DAD93D87BCC}"/>
              </a:ext>
            </a:extLst>
          </p:cNvPr>
          <p:cNvSpPr>
            <a:spLocks noGrp="1"/>
          </p:cNvSpPr>
          <p:nvPr>
            <p:ph type="sldNum" sz="quarter" idx="12"/>
          </p:nvPr>
        </p:nvSpPr>
        <p:spPr/>
        <p:txBody>
          <a:bodyPr/>
          <a:lstStyle/>
          <a:p>
            <a:fld id="{A452E615-19A8-D149-963D-D14BE828048B}" type="slidenum">
              <a:rPr lang="en-GB" sz="1600" smtClean="0"/>
              <a:t>2</a:t>
            </a:fld>
            <a:endParaRPr lang="en-GB" dirty="0"/>
          </a:p>
        </p:txBody>
      </p:sp>
    </p:spTree>
    <p:extLst>
      <p:ext uri="{BB962C8B-B14F-4D97-AF65-F5344CB8AC3E}">
        <p14:creationId xmlns:p14="http://schemas.microsoft.com/office/powerpoint/2010/main" val="2637936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75EAC-396D-BDAA-5428-22F81B62E146}"/>
              </a:ext>
            </a:extLst>
          </p:cNvPr>
          <p:cNvSpPr>
            <a:spLocks noGrp="1"/>
          </p:cNvSpPr>
          <p:nvPr>
            <p:ph type="title"/>
          </p:nvPr>
        </p:nvSpPr>
        <p:spPr/>
        <p:txBody>
          <a:bodyPr/>
          <a:lstStyle/>
          <a:p>
            <a:pPr algn="ctr"/>
            <a:r>
              <a:rPr lang="en-GB" dirty="0"/>
              <a:t>Project Objectives</a:t>
            </a:r>
          </a:p>
        </p:txBody>
      </p:sp>
      <p:sp>
        <p:nvSpPr>
          <p:cNvPr id="3" name="Content Placeholder 2">
            <a:extLst>
              <a:ext uri="{FF2B5EF4-FFF2-40B4-BE49-F238E27FC236}">
                <a16:creationId xmlns:a16="http://schemas.microsoft.com/office/drawing/2014/main" id="{B2355BED-2701-A913-B462-D12C287F71FE}"/>
              </a:ext>
            </a:extLst>
          </p:cNvPr>
          <p:cNvSpPr>
            <a:spLocks noGrp="1"/>
          </p:cNvSpPr>
          <p:nvPr>
            <p:ph idx="1"/>
          </p:nvPr>
        </p:nvSpPr>
        <p:spPr/>
        <p:txBody>
          <a:bodyPr/>
          <a:lstStyle/>
          <a:p>
            <a:pPr marL="457200" indent="-457200">
              <a:buFont typeface="+mj-lt"/>
              <a:buAutoNum type="arabicPeriod"/>
            </a:pPr>
            <a:r>
              <a:rPr lang="en-GB" dirty="0"/>
              <a:t>To develop a web application that generates near-optimal tourist routes in London, to minimise travel distance and maximise user satisfaction.</a:t>
            </a:r>
          </a:p>
          <a:p>
            <a:pPr lvl="1"/>
            <a:r>
              <a:rPr lang="en-GB" dirty="0"/>
              <a:t>Distance = defined as the Euclidean distance between each location</a:t>
            </a:r>
          </a:p>
          <a:p>
            <a:pPr lvl="1"/>
            <a:r>
              <a:rPr lang="en-GB" dirty="0"/>
              <a:t>Satisfaction = average of a location matching the selected route category and the sentiment of tweets linked to it</a:t>
            </a:r>
          </a:p>
          <a:p>
            <a:pPr marL="457200" indent="-457200">
              <a:buFont typeface="+mj-lt"/>
              <a:buAutoNum type="arabicPeriod"/>
            </a:pPr>
            <a:r>
              <a:rPr lang="en-GB" dirty="0"/>
              <a:t>To use a </a:t>
            </a:r>
            <a:r>
              <a:rPr lang="en-GB" b="1" dirty="0"/>
              <a:t>Multi-Objective Evolutionary Algorithm (NSGA-II)</a:t>
            </a:r>
            <a:r>
              <a:rPr lang="en-GB" dirty="0"/>
              <a:t> to balance the two goals. </a:t>
            </a:r>
          </a:p>
          <a:p>
            <a:pPr marL="457200" indent="-457200">
              <a:buFont typeface="+mj-lt"/>
              <a:buAutoNum type="arabicPeriod"/>
            </a:pPr>
            <a:r>
              <a:rPr lang="en-GB" dirty="0"/>
              <a:t>To leverage (simulated) Twitter/X data to provide recommendations to help users decide on locations to visit</a:t>
            </a:r>
          </a:p>
        </p:txBody>
      </p:sp>
      <p:sp>
        <p:nvSpPr>
          <p:cNvPr id="4" name="Slide Number Placeholder 3">
            <a:extLst>
              <a:ext uri="{FF2B5EF4-FFF2-40B4-BE49-F238E27FC236}">
                <a16:creationId xmlns:a16="http://schemas.microsoft.com/office/drawing/2014/main" id="{E0F0E8BF-AAE4-20B7-C5F3-BC1FAF3CD75E}"/>
              </a:ext>
            </a:extLst>
          </p:cNvPr>
          <p:cNvSpPr>
            <a:spLocks noGrp="1"/>
          </p:cNvSpPr>
          <p:nvPr>
            <p:ph type="sldNum" sz="quarter" idx="12"/>
          </p:nvPr>
        </p:nvSpPr>
        <p:spPr/>
        <p:txBody>
          <a:bodyPr/>
          <a:lstStyle/>
          <a:p>
            <a:fld id="{A452E615-19A8-D149-963D-D14BE828048B}" type="slidenum">
              <a:rPr lang="en-GB" sz="1600" smtClean="0"/>
              <a:t>3</a:t>
            </a:fld>
            <a:endParaRPr lang="en-GB" dirty="0"/>
          </a:p>
        </p:txBody>
      </p:sp>
    </p:spTree>
    <p:extLst>
      <p:ext uri="{BB962C8B-B14F-4D97-AF65-F5344CB8AC3E}">
        <p14:creationId xmlns:p14="http://schemas.microsoft.com/office/powerpoint/2010/main" val="36178222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E04B9-3588-E238-C83E-4283DA600B27}"/>
              </a:ext>
            </a:extLst>
          </p:cNvPr>
          <p:cNvSpPr>
            <a:spLocks noGrp="1"/>
          </p:cNvSpPr>
          <p:nvPr>
            <p:ph type="title"/>
          </p:nvPr>
        </p:nvSpPr>
        <p:spPr/>
        <p:txBody>
          <a:bodyPr/>
          <a:lstStyle/>
          <a:p>
            <a:pPr algn="ctr"/>
            <a:r>
              <a:rPr lang="en-GB" dirty="0"/>
              <a:t>Methodology</a:t>
            </a:r>
          </a:p>
        </p:txBody>
      </p:sp>
      <p:sp>
        <p:nvSpPr>
          <p:cNvPr id="3" name="Content Placeholder 2">
            <a:extLst>
              <a:ext uri="{FF2B5EF4-FFF2-40B4-BE49-F238E27FC236}">
                <a16:creationId xmlns:a16="http://schemas.microsoft.com/office/drawing/2014/main" id="{0D882916-3EE8-AEEC-35FA-1049CA043EE2}"/>
              </a:ext>
            </a:extLst>
          </p:cNvPr>
          <p:cNvSpPr>
            <a:spLocks noGrp="1"/>
          </p:cNvSpPr>
          <p:nvPr>
            <p:ph idx="1"/>
          </p:nvPr>
        </p:nvSpPr>
        <p:spPr/>
        <p:txBody>
          <a:bodyPr/>
          <a:lstStyle/>
          <a:p>
            <a:r>
              <a:rPr lang="en-GB" sz="2400" b="1" dirty="0"/>
              <a:t>Flask Web Framework</a:t>
            </a:r>
            <a:r>
              <a:rPr lang="en-GB" sz="2400" dirty="0"/>
              <a:t>: The backend of the application, managing user interaction, data, and the algorithm(s).</a:t>
            </a:r>
          </a:p>
          <a:p>
            <a:pPr lvl="1"/>
            <a:r>
              <a:rPr lang="en-GB" sz="2000" b="1" dirty="0">
                <a:solidFill>
                  <a:schemeClr val="accent1"/>
                </a:solidFill>
              </a:rPr>
              <a:t>Sentiment Analysis Model</a:t>
            </a:r>
            <a:r>
              <a:rPr lang="en-GB" sz="2000" dirty="0"/>
              <a:t>: A trained Logistic Regression classifier that analyses text reviews to produce a sentiment score for each location. </a:t>
            </a:r>
          </a:p>
          <a:p>
            <a:pPr lvl="1"/>
            <a:r>
              <a:rPr lang="en-GB" sz="2000" b="1" dirty="0">
                <a:solidFill>
                  <a:schemeClr val="accent1"/>
                </a:solidFill>
              </a:rPr>
              <a:t>NSGA-II Algorithm</a:t>
            </a:r>
            <a:r>
              <a:rPr lang="en-GB" sz="2000" dirty="0"/>
              <a:t>: The core of the route optimization engine, designed by myself and implemented using the DEAP library in Python. </a:t>
            </a:r>
          </a:p>
          <a:p>
            <a:pPr lvl="2"/>
            <a:r>
              <a:rPr lang="en-GB" sz="1800" dirty="0"/>
              <a:t>This algorithm was chosen because it excels at solving multi-objective problems without needing predefined weights.</a:t>
            </a:r>
          </a:p>
          <a:p>
            <a:endParaRPr lang="en-GB" dirty="0"/>
          </a:p>
        </p:txBody>
      </p:sp>
      <p:sp>
        <p:nvSpPr>
          <p:cNvPr id="5" name="Slide Number Placeholder 4">
            <a:extLst>
              <a:ext uri="{FF2B5EF4-FFF2-40B4-BE49-F238E27FC236}">
                <a16:creationId xmlns:a16="http://schemas.microsoft.com/office/drawing/2014/main" id="{168F1EF5-B938-362A-6DE0-9E22A6BC4587}"/>
              </a:ext>
            </a:extLst>
          </p:cNvPr>
          <p:cNvSpPr>
            <a:spLocks noGrp="1"/>
          </p:cNvSpPr>
          <p:nvPr>
            <p:ph type="sldNum" sz="quarter" idx="12"/>
          </p:nvPr>
        </p:nvSpPr>
        <p:spPr/>
        <p:txBody>
          <a:bodyPr/>
          <a:lstStyle/>
          <a:p>
            <a:fld id="{A452E615-19A8-D149-963D-D14BE828048B}" type="slidenum">
              <a:rPr lang="en-GB" sz="1600" smtClean="0"/>
              <a:t>4</a:t>
            </a:fld>
            <a:endParaRPr lang="en-GB" dirty="0"/>
          </a:p>
        </p:txBody>
      </p:sp>
    </p:spTree>
    <p:extLst>
      <p:ext uri="{BB962C8B-B14F-4D97-AF65-F5344CB8AC3E}">
        <p14:creationId xmlns:p14="http://schemas.microsoft.com/office/powerpoint/2010/main" val="7865499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D3741-0024-DAF8-11CB-FD9A0F4FF3AA}"/>
              </a:ext>
            </a:extLst>
          </p:cNvPr>
          <p:cNvSpPr>
            <a:spLocks noGrp="1"/>
          </p:cNvSpPr>
          <p:nvPr>
            <p:ph type="title"/>
          </p:nvPr>
        </p:nvSpPr>
        <p:spPr/>
        <p:txBody>
          <a:bodyPr/>
          <a:lstStyle/>
          <a:p>
            <a:pPr algn="ctr"/>
            <a:r>
              <a:rPr lang="en-GB" dirty="0"/>
              <a:t>The NSGA-II Algorithm </a:t>
            </a:r>
          </a:p>
        </p:txBody>
      </p:sp>
      <p:sp>
        <p:nvSpPr>
          <p:cNvPr id="3" name="Content Placeholder 2">
            <a:extLst>
              <a:ext uri="{FF2B5EF4-FFF2-40B4-BE49-F238E27FC236}">
                <a16:creationId xmlns:a16="http://schemas.microsoft.com/office/drawing/2014/main" id="{7042A251-053E-9BC1-4ED6-F63FE88DEBD8}"/>
              </a:ext>
            </a:extLst>
          </p:cNvPr>
          <p:cNvSpPr>
            <a:spLocks noGrp="1"/>
          </p:cNvSpPr>
          <p:nvPr>
            <p:ph idx="1"/>
          </p:nvPr>
        </p:nvSpPr>
        <p:spPr/>
        <p:txBody>
          <a:bodyPr/>
          <a:lstStyle/>
          <a:p>
            <a:r>
              <a:rPr lang="en-GB" dirty="0"/>
              <a:t>Individual represented as a list of location ids, between 5 and 8 and created using the </a:t>
            </a:r>
            <a:r>
              <a:rPr lang="en-GB" dirty="0" err="1"/>
              <a:t>generate_individual</a:t>
            </a:r>
            <a:r>
              <a:rPr lang="en-GB" dirty="0"/>
              <a:t>() function.</a:t>
            </a:r>
          </a:p>
          <a:p>
            <a:r>
              <a:rPr lang="en-GB" dirty="0"/>
              <a:t>Objective functions:</a:t>
            </a:r>
          </a:p>
          <a:p>
            <a:pPr lvl="1"/>
            <a:r>
              <a:rPr lang="en-GB" dirty="0"/>
              <a:t>Minimising Distance -&gt; </a:t>
            </a:r>
          </a:p>
          <a:p>
            <a:pPr lvl="1"/>
            <a:endParaRPr lang="en-GB" dirty="0"/>
          </a:p>
          <a:p>
            <a:pPr lvl="1"/>
            <a:r>
              <a:rPr lang="en-GB" dirty="0"/>
              <a:t>Maximising Satisfaction -&gt; </a:t>
            </a:r>
          </a:p>
          <a:p>
            <a:r>
              <a:rPr lang="en-GB" dirty="0"/>
              <a:t>Crossover: Order Crossover,  90%</a:t>
            </a:r>
          </a:p>
          <a:p>
            <a:r>
              <a:rPr lang="en-GB" dirty="0"/>
              <a:t>Mutation: Custom add/remove/swap mutation, 20%</a:t>
            </a:r>
          </a:p>
          <a:p>
            <a:r>
              <a:rPr lang="en-GB" dirty="0"/>
              <a:t>Parents Selection Mechanism: NSGA-II selection mechanism provided by the DEAP library in Python – selects parents that are non-dominated and are less crowded.</a:t>
            </a:r>
          </a:p>
          <a:p>
            <a:pPr marL="0" indent="0">
              <a:buNone/>
            </a:pPr>
            <a:endParaRPr lang="en-GB" dirty="0"/>
          </a:p>
        </p:txBody>
      </p:sp>
      <p:sp>
        <p:nvSpPr>
          <p:cNvPr id="10" name="Slide Number Placeholder 9">
            <a:extLst>
              <a:ext uri="{FF2B5EF4-FFF2-40B4-BE49-F238E27FC236}">
                <a16:creationId xmlns:a16="http://schemas.microsoft.com/office/drawing/2014/main" id="{7ECB87C7-9C20-794D-A63F-25D7BFD46DE9}"/>
              </a:ext>
            </a:extLst>
          </p:cNvPr>
          <p:cNvSpPr>
            <a:spLocks noGrp="1"/>
          </p:cNvSpPr>
          <p:nvPr>
            <p:ph type="sldNum" sz="quarter" idx="12"/>
          </p:nvPr>
        </p:nvSpPr>
        <p:spPr/>
        <p:txBody>
          <a:bodyPr/>
          <a:lstStyle/>
          <a:p>
            <a:fld id="{A452E615-19A8-D149-963D-D14BE828048B}" type="slidenum">
              <a:rPr lang="en-GB" sz="1600" smtClean="0"/>
              <a:t>5</a:t>
            </a:fld>
            <a:endParaRPr lang="en-GB" dirty="0"/>
          </a:p>
        </p:txBody>
      </p:sp>
      <p:sp>
        <p:nvSpPr>
          <p:cNvPr id="4" name="AutoShape 2" descr="equation">
            <a:extLst>
              <a:ext uri="{FF2B5EF4-FFF2-40B4-BE49-F238E27FC236}">
                <a16:creationId xmlns:a16="http://schemas.microsoft.com/office/drawing/2014/main" id="{4E0ACB6A-1FC8-B1CC-DDB5-84C596F1930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7" name="Graphic 6">
            <a:extLst>
              <a:ext uri="{FF2B5EF4-FFF2-40B4-BE49-F238E27FC236}">
                <a16:creationId xmlns:a16="http://schemas.microsoft.com/office/drawing/2014/main" id="{2D14250E-60AF-7ABF-AA3B-5B724C8A83F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41820" y="2200148"/>
            <a:ext cx="3429000" cy="482600"/>
          </a:xfrm>
          <a:prstGeom prst="rect">
            <a:avLst/>
          </a:prstGeom>
        </p:spPr>
      </p:pic>
      <p:pic>
        <p:nvPicPr>
          <p:cNvPr id="9" name="Graphic 8">
            <a:extLst>
              <a:ext uri="{FF2B5EF4-FFF2-40B4-BE49-F238E27FC236}">
                <a16:creationId xmlns:a16="http://schemas.microsoft.com/office/drawing/2014/main" id="{4CA5A9E4-E606-0A74-480E-3ADF83FD6BA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37222" y="2836672"/>
            <a:ext cx="2527300" cy="508000"/>
          </a:xfrm>
          <a:prstGeom prst="rect">
            <a:avLst/>
          </a:prstGeom>
        </p:spPr>
      </p:pic>
    </p:spTree>
    <p:extLst>
      <p:ext uri="{BB962C8B-B14F-4D97-AF65-F5344CB8AC3E}">
        <p14:creationId xmlns:p14="http://schemas.microsoft.com/office/powerpoint/2010/main" val="33936748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3E7DD-8889-5693-4734-93D03B8C3303}"/>
              </a:ext>
            </a:extLst>
          </p:cNvPr>
          <p:cNvSpPr>
            <a:spLocks noGrp="1"/>
          </p:cNvSpPr>
          <p:nvPr>
            <p:ph type="title"/>
          </p:nvPr>
        </p:nvSpPr>
        <p:spPr/>
        <p:txBody>
          <a:bodyPr/>
          <a:lstStyle/>
          <a:p>
            <a:pPr algn="ctr"/>
            <a:r>
              <a:rPr lang="en-GB" dirty="0"/>
              <a:t>Experimental/Test Design</a:t>
            </a:r>
          </a:p>
        </p:txBody>
      </p:sp>
      <p:sp>
        <p:nvSpPr>
          <p:cNvPr id="3" name="Content Placeholder 2">
            <a:extLst>
              <a:ext uri="{FF2B5EF4-FFF2-40B4-BE49-F238E27FC236}">
                <a16:creationId xmlns:a16="http://schemas.microsoft.com/office/drawing/2014/main" id="{78F65B27-EA11-C9F6-06F0-6BF8F44E9FB0}"/>
              </a:ext>
            </a:extLst>
          </p:cNvPr>
          <p:cNvSpPr>
            <a:spLocks noGrp="1"/>
          </p:cNvSpPr>
          <p:nvPr>
            <p:ph idx="1"/>
          </p:nvPr>
        </p:nvSpPr>
        <p:spPr>
          <a:xfrm>
            <a:off x="3604591" y="818460"/>
            <a:ext cx="8030818" cy="5299005"/>
          </a:xfrm>
        </p:spPr>
        <p:txBody>
          <a:bodyPr>
            <a:normAutofit/>
          </a:bodyPr>
          <a:lstStyle/>
          <a:p>
            <a:r>
              <a:rPr lang="en-GB" sz="2800" dirty="0"/>
              <a:t>Ran two types of initial test:</a:t>
            </a:r>
          </a:p>
          <a:p>
            <a:pPr lvl="1"/>
            <a:r>
              <a:rPr lang="en-GB" sz="2400" b="1" dirty="0">
                <a:solidFill>
                  <a:schemeClr val="accent1"/>
                </a:solidFill>
              </a:rPr>
              <a:t>Unit testing</a:t>
            </a:r>
          </a:p>
          <a:p>
            <a:pPr lvl="2"/>
            <a:r>
              <a:rPr lang="en-GB" sz="2200" dirty="0"/>
              <a:t>Testing the three core functions from the last slide</a:t>
            </a:r>
            <a:endParaRPr lang="en-GB" sz="2400" dirty="0"/>
          </a:p>
          <a:p>
            <a:pPr lvl="1"/>
            <a:r>
              <a:rPr lang="en-GB" sz="2400" b="1" dirty="0">
                <a:solidFill>
                  <a:schemeClr val="accent1"/>
                </a:solidFill>
              </a:rPr>
              <a:t>Algorithm Performance Testing</a:t>
            </a:r>
            <a:endParaRPr lang="en-GB" sz="2200" b="1" dirty="0">
              <a:solidFill>
                <a:schemeClr val="accent1"/>
              </a:solidFill>
            </a:endParaRPr>
          </a:p>
          <a:p>
            <a:pPr marL="914400" lvl="2" indent="0">
              <a:buNone/>
            </a:pPr>
            <a:endParaRPr lang="en-GB" dirty="0"/>
          </a:p>
        </p:txBody>
      </p:sp>
      <p:sp>
        <p:nvSpPr>
          <p:cNvPr id="6" name="Slide Number Placeholder 5">
            <a:extLst>
              <a:ext uri="{FF2B5EF4-FFF2-40B4-BE49-F238E27FC236}">
                <a16:creationId xmlns:a16="http://schemas.microsoft.com/office/drawing/2014/main" id="{49BB0443-24A4-D594-5A4D-248317DA16EF}"/>
              </a:ext>
            </a:extLst>
          </p:cNvPr>
          <p:cNvSpPr>
            <a:spLocks noGrp="1"/>
          </p:cNvSpPr>
          <p:nvPr>
            <p:ph type="sldNum" sz="quarter" idx="12"/>
          </p:nvPr>
        </p:nvSpPr>
        <p:spPr/>
        <p:txBody>
          <a:bodyPr/>
          <a:lstStyle/>
          <a:p>
            <a:fld id="{A452E615-19A8-D149-963D-D14BE828048B}" type="slidenum">
              <a:rPr lang="en-GB" sz="1600" smtClean="0"/>
              <a:t>6</a:t>
            </a:fld>
            <a:endParaRPr lang="en-GB" dirty="0"/>
          </a:p>
        </p:txBody>
      </p:sp>
    </p:spTree>
    <p:extLst>
      <p:ext uri="{BB962C8B-B14F-4D97-AF65-F5344CB8AC3E}">
        <p14:creationId xmlns:p14="http://schemas.microsoft.com/office/powerpoint/2010/main" val="8290921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BA10F-9C1E-8757-63D6-8E7ACC733760}"/>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E4E1E55E-4CD9-87E4-061E-7C298AAB7C0B}"/>
              </a:ext>
            </a:extLst>
          </p:cNvPr>
          <p:cNvSpPr>
            <a:spLocks noGrp="1"/>
          </p:cNvSpPr>
          <p:nvPr>
            <p:ph type="title"/>
          </p:nvPr>
        </p:nvSpPr>
        <p:spPr/>
        <p:txBody>
          <a:bodyPr/>
          <a:lstStyle/>
          <a:p>
            <a:r>
              <a:rPr lang="en-GB" dirty="0"/>
              <a:t>Results – NSGA-II vs Greedy</a:t>
            </a:r>
          </a:p>
        </p:txBody>
      </p:sp>
      <p:sp>
        <p:nvSpPr>
          <p:cNvPr id="12" name="Slide Number Placeholder 11">
            <a:extLst>
              <a:ext uri="{FF2B5EF4-FFF2-40B4-BE49-F238E27FC236}">
                <a16:creationId xmlns:a16="http://schemas.microsoft.com/office/drawing/2014/main" id="{7CD32B21-2BFB-D956-95FB-64D536DF942D}"/>
              </a:ext>
            </a:extLst>
          </p:cNvPr>
          <p:cNvSpPr>
            <a:spLocks noGrp="1"/>
          </p:cNvSpPr>
          <p:nvPr>
            <p:ph type="sldNum" sz="quarter" idx="12"/>
          </p:nvPr>
        </p:nvSpPr>
        <p:spPr/>
        <p:txBody>
          <a:bodyPr/>
          <a:lstStyle/>
          <a:p>
            <a:fld id="{A452E615-19A8-D149-963D-D14BE828048B}" type="slidenum">
              <a:rPr lang="en-GB" sz="1600" smtClean="0"/>
              <a:t>7</a:t>
            </a:fld>
            <a:endParaRPr lang="en-GB" dirty="0"/>
          </a:p>
        </p:txBody>
      </p:sp>
      <p:pic>
        <p:nvPicPr>
          <p:cNvPr id="16" name="Content Placeholder 15" descr="A graph with blue dots and red dots&#10;&#10;AI-generated content may be incorrect.">
            <a:extLst>
              <a:ext uri="{FF2B5EF4-FFF2-40B4-BE49-F238E27FC236}">
                <a16:creationId xmlns:a16="http://schemas.microsoft.com/office/drawing/2014/main" id="{C943D564-6FE5-ADEB-5D92-4F4C19D9C0F8}"/>
              </a:ext>
            </a:extLst>
          </p:cNvPr>
          <p:cNvPicPr>
            <a:picLocks noGrp="1" noChangeAspect="1"/>
          </p:cNvPicPr>
          <p:nvPr>
            <p:ph idx="1"/>
          </p:nvPr>
        </p:nvPicPr>
        <p:blipFill>
          <a:blip r:embed="rId3"/>
          <a:stretch>
            <a:fillRect/>
          </a:stretch>
        </p:blipFill>
        <p:spPr>
          <a:xfrm>
            <a:off x="2725248" y="466867"/>
            <a:ext cx="8674350" cy="6072045"/>
          </a:xfrm>
        </p:spPr>
      </p:pic>
    </p:spTree>
    <p:extLst>
      <p:ext uri="{BB962C8B-B14F-4D97-AF65-F5344CB8AC3E}">
        <p14:creationId xmlns:p14="http://schemas.microsoft.com/office/powerpoint/2010/main" val="25438701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D45D5-3CC0-06F5-1359-55FC0B939810}"/>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F016C805-7588-1613-855D-8660FC0718FA}"/>
              </a:ext>
            </a:extLst>
          </p:cNvPr>
          <p:cNvSpPr>
            <a:spLocks noGrp="1"/>
          </p:cNvSpPr>
          <p:nvPr>
            <p:ph type="title"/>
          </p:nvPr>
        </p:nvSpPr>
        <p:spPr>
          <a:xfrm>
            <a:off x="0" y="693903"/>
            <a:ext cx="2947482" cy="4601183"/>
          </a:xfrm>
        </p:spPr>
        <p:txBody>
          <a:bodyPr/>
          <a:lstStyle/>
          <a:p>
            <a:r>
              <a:rPr lang="en-GB" dirty="0"/>
              <a:t>Results - Hypervolume</a:t>
            </a:r>
          </a:p>
        </p:txBody>
      </p:sp>
      <p:pic>
        <p:nvPicPr>
          <p:cNvPr id="16" name="Content Placeholder 15" descr="A graph of blue rectangular bars with white text&#10;&#10;AI-generated content may be incorrect.">
            <a:extLst>
              <a:ext uri="{FF2B5EF4-FFF2-40B4-BE49-F238E27FC236}">
                <a16:creationId xmlns:a16="http://schemas.microsoft.com/office/drawing/2014/main" id="{FED909ED-42F1-26D1-3C81-69CE5644F090}"/>
              </a:ext>
            </a:extLst>
          </p:cNvPr>
          <p:cNvPicPr>
            <a:picLocks noGrp="1" noChangeAspect="1"/>
          </p:cNvPicPr>
          <p:nvPr>
            <p:ph idx="1"/>
          </p:nvPr>
        </p:nvPicPr>
        <p:blipFill>
          <a:blip r:embed="rId3"/>
          <a:stretch>
            <a:fillRect/>
          </a:stretch>
        </p:blipFill>
        <p:spPr>
          <a:xfrm>
            <a:off x="2620345" y="693903"/>
            <a:ext cx="9377475" cy="5470194"/>
          </a:xfrm>
        </p:spPr>
      </p:pic>
      <p:sp>
        <p:nvSpPr>
          <p:cNvPr id="14" name="Slide Number Placeholder 13">
            <a:extLst>
              <a:ext uri="{FF2B5EF4-FFF2-40B4-BE49-F238E27FC236}">
                <a16:creationId xmlns:a16="http://schemas.microsoft.com/office/drawing/2014/main" id="{D7CF67F5-4011-39C3-FFEF-81235C4E4BF5}"/>
              </a:ext>
            </a:extLst>
          </p:cNvPr>
          <p:cNvSpPr>
            <a:spLocks noGrp="1"/>
          </p:cNvSpPr>
          <p:nvPr>
            <p:ph type="sldNum" sz="quarter" idx="12"/>
          </p:nvPr>
        </p:nvSpPr>
        <p:spPr/>
        <p:txBody>
          <a:bodyPr/>
          <a:lstStyle/>
          <a:p>
            <a:fld id="{A452E615-19A8-D149-963D-D14BE828048B}" type="slidenum">
              <a:rPr lang="en-GB" sz="1600" smtClean="0"/>
              <a:t>8</a:t>
            </a:fld>
            <a:endParaRPr lang="en-GB" dirty="0"/>
          </a:p>
        </p:txBody>
      </p:sp>
    </p:spTree>
    <p:extLst>
      <p:ext uri="{BB962C8B-B14F-4D97-AF65-F5344CB8AC3E}">
        <p14:creationId xmlns:p14="http://schemas.microsoft.com/office/powerpoint/2010/main" val="19281376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B4076-327F-8761-C2BE-CE877F3477B2}"/>
              </a:ext>
            </a:extLst>
          </p:cNvPr>
          <p:cNvSpPr>
            <a:spLocks noGrp="1"/>
          </p:cNvSpPr>
          <p:nvPr>
            <p:ph type="title"/>
          </p:nvPr>
        </p:nvSpPr>
        <p:spPr/>
        <p:txBody>
          <a:bodyPr/>
          <a:lstStyle/>
          <a:p>
            <a:pPr algn="ctr"/>
            <a:r>
              <a:rPr lang="en-GB" dirty="0"/>
              <a:t>Future Work</a:t>
            </a:r>
          </a:p>
        </p:txBody>
      </p:sp>
      <p:sp>
        <p:nvSpPr>
          <p:cNvPr id="3" name="Content Placeholder 2">
            <a:extLst>
              <a:ext uri="{FF2B5EF4-FFF2-40B4-BE49-F238E27FC236}">
                <a16:creationId xmlns:a16="http://schemas.microsoft.com/office/drawing/2014/main" id="{BA82F9DC-BFFE-EBCD-F5D4-1AE288F2F635}"/>
              </a:ext>
            </a:extLst>
          </p:cNvPr>
          <p:cNvSpPr>
            <a:spLocks noGrp="1"/>
          </p:cNvSpPr>
          <p:nvPr>
            <p:ph idx="1"/>
          </p:nvPr>
        </p:nvSpPr>
        <p:spPr/>
        <p:txBody>
          <a:bodyPr/>
          <a:lstStyle/>
          <a:p>
            <a:endParaRPr lang="en-GB" dirty="0"/>
          </a:p>
          <a:p>
            <a:r>
              <a:rPr lang="en-GB" dirty="0"/>
              <a:t>Using real-time data via an API for X that uses exact location data and NLP to match tweets to locations in the database, to increase the interactivity of the tweet element of the app.</a:t>
            </a:r>
          </a:p>
          <a:p>
            <a:r>
              <a:rPr lang="en-GB" dirty="0"/>
              <a:t>Integrate other forms of social media (with APIs) to turn </a:t>
            </a:r>
            <a:r>
              <a:rPr lang="en-GB" dirty="0" err="1"/>
              <a:t>TweetPath</a:t>
            </a:r>
            <a:r>
              <a:rPr lang="en-GB" dirty="0"/>
              <a:t> into a platform for users to directly reference and consult different social media recommendations for their travel planning.</a:t>
            </a:r>
          </a:p>
          <a:p>
            <a:r>
              <a:rPr lang="en-GB" dirty="0"/>
              <a:t>Expand the locations database to over 500 locations in London, and perhaps in other cities and then evaluate the performance of the NSGA-II algorithm compared to other optimization algorithms.</a:t>
            </a:r>
          </a:p>
          <a:p>
            <a:endParaRPr lang="en-GB" dirty="0"/>
          </a:p>
        </p:txBody>
      </p:sp>
      <p:sp>
        <p:nvSpPr>
          <p:cNvPr id="4" name="Slide Number Placeholder 3">
            <a:extLst>
              <a:ext uri="{FF2B5EF4-FFF2-40B4-BE49-F238E27FC236}">
                <a16:creationId xmlns:a16="http://schemas.microsoft.com/office/drawing/2014/main" id="{3918AE0B-0E86-F06A-F718-84E411B74AA4}"/>
              </a:ext>
            </a:extLst>
          </p:cNvPr>
          <p:cNvSpPr>
            <a:spLocks noGrp="1"/>
          </p:cNvSpPr>
          <p:nvPr>
            <p:ph type="sldNum" sz="quarter" idx="12"/>
          </p:nvPr>
        </p:nvSpPr>
        <p:spPr/>
        <p:txBody>
          <a:bodyPr/>
          <a:lstStyle/>
          <a:p>
            <a:fld id="{A452E615-19A8-D149-963D-D14BE828048B}" type="slidenum">
              <a:rPr lang="en-GB" sz="1600" smtClean="0"/>
              <a:t>9</a:t>
            </a:fld>
            <a:endParaRPr lang="en-GB" dirty="0"/>
          </a:p>
        </p:txBody>
      </p:sp>
    </p:spTree>
    <p:extLst>
      <p:ext uri="{BB962C8B-B14F-4D97-AF65-F5344CB8AC3E}">
        <p14:creationId xmlns:p14="http://schemas.microsoft.com/office/powerpoint/2010/main" val="671731605"/>
      </p:ext>
    </p:extLst>
  </p:cSld>
  <p:clrMapOvr>
    <a:masterClrMapping/>
  </p:clrMapOvr>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1E1F6DD-40A9-914D-B8F6-B9C34B1238E8}">
  <we:reference id="4567b711-9f2d-454d-b0d0-74708a29b461" version="1.0.0.0" store="EXCatalog" storeType="EXCatalog"/>
  <we:alternateReferences>
    <we:reference id="WA200001313" version="1.0.0.0" store="en-GB"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7314</TotalTime>
  <Words>582</Words>
  <Application>Microsoft Macintosh PowerPoint</Application>
  <PresentationFormat>Widescreen</PresentationFormat>
  <Paragraphs>64</Paragraphs>
  <Slides>9</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Corbel</vt:lpstr>
      <vt:lpstr>Wingdings 2</vt:lpstr>
      <vt:lpstr>Frame</vt:lpstr>
      <vt:lpstr>TweetPath - A Multi-Objective Evolutionary Approach to Touristic Route Planning</vt:lpstr>
      <vt:lpstr>Background</vt:lpstr>
      <vt:lpstr>Project Objectives</vt:lpstr>
      <vt:lpstr>Methodology</vt:lpstr>
      <vt:lpstr>The NSGA-II Algorithm </vt:lpstr>
      <vt:lpstr>Experimental/Test Design</vt:lpstr>
      <vt:lpstr>Results – NSGA-II vs Greedy</vt:lpstr>
      <vt:lpstr>Results - Hypervolume</vt:lpstr>
      <vt:lpstr>Future 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Rajan Dosanjh (MSc Computer Science FT)</dc:creator>
  <cp:lastModifiedBy>Rajan Dosanjh (MSc Computer Science FT)</cp:lastModifiedBy>
  <cp:revision>5</cp:revision>
  <dcterms:created xsi:type="dcterms:W3CDTF">2025-08-07T10:18:28Z</dcterms:created>
  <dcterms:modified xsi:type="dcterms:W3CDTF">2025-08-13T13:18:48Z</dcterms:modified>
</cp:coreProperties>
</file>